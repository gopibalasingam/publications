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Int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57CFCF-6043-4667-8C87-C010DEB2F770}">
  <a:tblStyle styleId="{FC57CFCF-6043-4667-8C87-C010DEB2F77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Inter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Inter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Int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5.png"/><Relationship Id="rId9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26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14.png"/><Relationship Id="rId5" Type="http://schemas.openxmlformats.org/officeDocument/2006/relationships/image" Target="../media/image1.png"/><Relationship Id="rId6" Type="http://schemas.openxmlformats.org/officeDocument/2006/relationships/image" Target="../media/image12.png"/><Relationship Id="rId7" Type="http://schemas.openxmlformats.org/officeDocument/2006/relationships/image" Target="../media/image10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1518493"/>
            <a:ext cx="8572500" cy="382101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205513" y="2099518"/>
            <a:ext cx="7780972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Modernizing Test Automation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390775" y="3798540"/>
            <a:ext cx="74104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strategic comparison of Java Selenium, WebDriverIO, and Playwright for the MRA Project ecosystem.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14587"/>
            <a:ext cx="348615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414587"/>
            <a:ext cx="348615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414587"/>
            <a:ext cx="3486150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MRA Project Ecosystem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81025" y="13335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876300" y="3367087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Power Platform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76300" y="3881437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Heavy reliance on Canvas Apps and Model-Driven Apps requiring robust iframe and shadow DOM support.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648200" y="3367087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APIs &amp; Dataverse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648200" y="3881437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Direct API calls and integration with Dataverse are critical for end-to-end testing reliability.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420100" y="3367087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Event Driven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420100" y="3881437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Asynchronous testing requirements for Power Automate flows and Service Bus messaging.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74796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74796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747962"/>
            <a:ext cx="3333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47900"/>
            <a:ext cx="3486150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247900"/>
            <a:ext cx="3486150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247900"/>
            <a:ext cx="3486150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Contenders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81025" y="13335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876300" y="3228975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Java Selenium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76300" y="3743325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legacy enterprise standard. Mature tooling but suffers from slow execution, high memory usage, and configuration complexity.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648200" y="3228975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WebDriverIO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648200" y="3743325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flexible Node.js framework. Offers a good plugin ecosystem but is still bound by the W3C WebDriver protocol bottleneck.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420100" y="3228975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Playwright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420100" y="3743325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modern contender. Uses direct browser protocol communication for blazing speed, auto-waiting, and native API testing.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609850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60985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609850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Feature Comparison Matrix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81025" y="13335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3" name="Google Shape;133;p16"/>
          <p:cNvGraphicFramePr/>
          <p:nvPr/>
        </p:nvGraphicFramePr>
        <p:xfrm>
          <a:off x="1795462" y="2305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{FC57CFCF-6043-4667-8C87-C010DEB2F770}</a:tableStyleId>
              </a:tblPr>
              <a:tblGrid>
                <a:gridCol w="2028825"/>
                <a:gridCol w="2419350"/>
                <a:gridCol w="1752600"/>
                <a:gridCol w="2400300"/>
              </a:tblGrid>
              <a:tr h="59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Feature 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Java Selenium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WebDriverIO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Playwright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AD33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Execution Speed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5-10s Startup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3-5s Startup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EAD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1-3s Startup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AD33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Reliability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 Waits (Flaky)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Smart Waits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EAD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Auto-Waiting (Stable)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AD33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API Testing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Requires RestAssured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Requires Axios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EAD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Native Built-in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AD33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Network Mocking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External Tools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External Tools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EAD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Native Full Control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AD33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Power Apps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Complex/Manual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EAD3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Excellent Support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AD33"/>
                    </a:solidFill>
                  </a:tcPr>
                </a:tc>
              </a:tr>
            </a:tbl>
          </a:graphicData>
        </a:graphic>
      </p:graphicFrame>
      <p:sp>
        <p:nvSpPr>
          <p:cNvPr id="134" name="Google Shape;134;p16"/>
          <p:cNvSpPr/>
          <p:nvPr/>
        </p:nvSpPr>
        <p:spPr>
          <a:xfrm>
            <a:off x="1795462" y="3481387"/>
            <a:ext cx="20288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3824287" y="3481387"/>
            <a:ext cx="24193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6243637" y="3481387"/>
            <a:ext cx="17526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7996237" y="3481387"/>
            <a:ext cx="24003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1795462" y="4081462"/>
            <a:ext cx="20288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3824287" y="4081462"/>
            <a:ext cx="24193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6243637" y="4081462"/>
            <a:ext cx="17526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7996237" y="4081462"/>
            <a:ext cx="24003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1795462" y="4681537"/>
            <a:ext cx="20288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3824287" y="4681537"/>
            <a:ext cx="24193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6243637" y="4681537"/>
            <a:ext cx="17526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7996237" y="4681537"/>
            <a:ext cx="24003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1795462" y="5281612"/>
            <a:ext cx="20288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3824287" y="5281612"/>
            <a:ext cx="24193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6243637" y="5281612"/>
            <a:ext cx="17526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7996237" y="5281612"/>
            <a:ext cx="24003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86966"/>
            <a:ext cx="11029950" cy="462706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81025" y="543966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Performance Benchmarks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81025" y="1296441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2286000" y="5354091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Playwright consistently outperforms legacy frameworks in startup time, execution speed, and resource efficiency.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771525" y="771525"/>
            <a:ext cx="4790598" cy="1133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Developer Experience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771525" y="2085975"/>
            <a:ext cx="45624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6" name="Google Shape;16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1871960" y="2547937"/>
            <a:ext cx="247952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Zero Configuration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771525" y="3176587"/>
            <a:ext cx="4562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Playwright requires zero manual driver management. No more "ChromeDriver version mismatch" errors.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2066032" y="4281487"/>
            <a:ext cx="207197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Modern Tooling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771525" y="4910137"/>
            <a:ext cx="4562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Includes a VS Code extension, codegen tools to record tests, and a powerful Trace Viewer for time-travel debugging.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47862"/>
            <a:ext cx="5229225" cy="215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Power Platform Mastery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581025" y="13335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581025" y="1947862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Why Playwright Wins here:</a:t>
            </a:r>
            <a:endParaRPr/>
          </a:p>
        </p:txBody>
      </p:sp>
      <p:pic>
        <p:nvPicPr>
          <p:cNvPr descr="image.png" id="180" name="Google Shape;18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57387"/>
            <a:ext cx="5210175" cy="213806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866775" y="2424112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Shadow DOM Support: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Seamlessly pierces through Shadow DOMs used in Power Apps components.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866775" y="3176587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Iframe Handling: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Automatic frame handling makes testing Canvas apps embedded in Model-driven apps trivial.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866775" y="4233862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Authentication: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Save and reuse authentication states to bypass login screens, speeding up test iterations by 30%.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866775" y="5291137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Network Interception: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Mock Dataverse responses to test UI edge cases without relying on backend data.</a:t>
            </a:r>
            <a:endParaRPr/>
          </a:p>
        </p:txBody>
      </p:sp>
      <p:pic>
        <p:nvPicPr>
          <p:cNvPr descr="image.png" id="185" name="Google Shape;18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4622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2146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2719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5329237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Strategic Verdict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581025" y="13335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1681162" y="3005137"/>
            <a:ext cx="349567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2EAD33"/>
                </a:solidFill>
                <a:latin typeface="Inter"/>
                <a:ea typeface="Inter"/>
                <a:cs typeface="Inter"/>
                <a:sym typeface="Inter"/>
              </a:rPr>
              <a:t>65%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1681162" y="4624387"/>
            <a:ext cx="34956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Category Win Rate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5748337" y="3038475"/>
            <a:ext cx="5000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Playwright is the clear winner.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5748337" y="3552825"/>
            <a:ext cx="47625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Out of 10 major comparison categories—including performance, reliability, and developer experience—Playwright secures a dominant victory, making it the best long-term investment for the MRA project.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Migration Roadmap</a:t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581025" y="13335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581025" y="4276725"/>
            <a:ext cx="11029950" cy="19050"/>
          </a:xfrm>
          <a:prstGeom prst="roundRect">
            <a:avLst>
              <a:gd fmla="val 16667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1603771" y="3490019"/>
            <a:ext cx="381000" cy="38100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520362" y="4061519"/>
            <a:ext cx="25478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D33"/>
                </a:solidFill>
                <a:latin typeface="Inter"/>
                <a:ea typeface="Inter"/>
                <a:cs typeface="Inter"/>
                <a:sym typeface="Inter"/>
              </a:rPr>
              <a:t>Phase 1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581025" y="4442519"/>
            <a:ext cx="2426493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Adopt Playwright for all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new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Power Platform modules.</a:t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4471541" y="3490019"/>
            <a:ext cx="381000" cy="38100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3388131" y="4061519"/>
            <a:ext cx="25478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D33"/>
                </a:solidFill>
                <a:latin typeface="Inter"/>
                <a:ea typeface="Inter"/>
                <a:cs typeface="Inter"/>
                <a:sym typeface="Inter"/>
              </a:rPr>
              <a:t>Phase 2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3448794" y="4442519"/>
            <a:ext cx="2426493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Migrate high-priority API tests to Playwright's native runner.</a:t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7339310" y="3490019"/>
            <a:ext cx="381000" cy="38100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6255900" y="4061519"/>
            <a:ext cx="25478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D33"/>
                </a:solidFill>
                <a:latin typeface="Inter"/>
                <a:ea typeface="Inter"/>
                <a:cs typeface="Inter"/>
                <a:sym typeface="Inter"/>
              </a:rPr>
              <a:t>Phase 3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6316563" y="4442519"/>
            <a:ext cx="2426493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Gradual conversion of legacy Selenium scripts over 12 months.</a:t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10207079" y="3490019"/>
            <a:ext cx="381000" cy="38100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9123670" y="4061519"/>
            <a:ext cx="25478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D33"/>
                </a:solidFill>
                <a:latin typeface="Inter"/>
                <a:ea typeface="Inter"/>
                <a:cs typeface="Inter"/>
                <a:sym typeface="Inter"/>
              </a:rPr>
              <a:t>Phase 4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9184332" y="4442519"/>
            <a:ext cx="2426493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Full retirement of legacy framework and infrastructure.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3420665" y="2509837"/>
            <a:ext cx="5350668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3548062" y="3852862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Let's discuss how we can accelerate the MRA project.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233" name="Google Shape;233;p23"/>
          <p:cNvSpPr/>
          <p:nvPr/>
        </p:nvSpPr>
        <p:spPr>
          <a:xfrm>
            <a:off x="581025" y="13335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581025" y="34051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581025" y="438804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6" name="Google Shape;23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7936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1676400" y="2772816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https://hamvocke.com/_astro/vim-ansi-colors.DL6qQwU0_Z2rh5o8.webp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1676400" y="301853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hamvocke.com</a:t>
            </a:r>
            <a:endParaRPr/>
          </a:p>
        </p:txBody>
      </p:sp>
      <p:pic>
        <p:nvPicPr>
          <p:cNvPr descr="image.png" id="239" name="Google Shape;23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66325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1676400" y="3557587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https://static.vecteezy.com/system/resources/previews/004/114/609/non_2x/web-design-concept-onboarding-screens-for-mobile-app-templates-developers-create-page-layout-modern-ui-ux-gui-screens-user-interface-kit-with-people-scenes-for-web-design-illustration-vector.jpg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1676400" y="400139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242" name="Google Shape;24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64611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3"/>
          <p:cNvSpPr txBox="1"/>
          <p:nvPr/>
        </p:nvSpPr>
        <p:spPr>
          <a:xfrm>
            <a:off x="1676400" y="4540448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https://img.freepik.com/premium-vector/abstract-futuristic-technology-network-background-with-glowing-blue-lines-nodes-dark-background-connecting-geometric-shapes-data-points-innovation-concepts_1222051-793.jpg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1676400" y="498425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www.freepik.com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