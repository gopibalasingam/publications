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8F1E63-D429-495A-B4D3-4A1C6B9899E9}">
  <a:tblStyle styleId="{E28F1E63-D429-495A-B4D3-4A1C6B9899E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Urbanist-bold.fntdata"/><Relationship Id="rId10" Type="http://schemas.openxmlformats.org/officeDocument/2006/relationships/slide" Target="slides/slide4.xml"/><Relationship Id="rId21" Type="http://schemas.openxmlformats.org/officeDocument/2006/relationships/font" Target="fonts/Urbanist-regular.fntdata"/><Relationship Id="rId13" Type="http://schemas.openxmlformats.org/officeDocument/2006/relationships/slide" Target="slides/slide7.xml"/><Relationship Id="rId24" Type="http://schemas.openxmlformats.org/officeDocument/2006/relationships/font" Target="fonts/Urbanist-boldItalic.fntdata"/><Relationship Id="rId12" Type="http://schemas.openxmlformats.org/officeDocument/2006/relationships/slide" Target="slides/slide6.xml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11" Type="http://schemas.openxmlformats.org/officeDocument/2006/relationships/image" Target="../media/image9.png"/><Relationship Id="rId10" Type="http://schemas.openxmlformats.org/officeDocument/2006/relationships/image" Target="../media/image37.png"/><Relationship Id="rId12" Type="http://schemas.openxmlformats.org/officeDocument/2006/relationships/image" Target="../media/image12.png"/><Relationship Id="rId9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11" Type="http://schemas.openxmlformats.org/officeDocument/2006/relationships/image" Target="../media/image40.png"/><Relationship Id="rId10" Type="http://schemas.openxmlformats.org/officeDocument/2006/relationships/image" Target="../media/image30.png"/><Relationship Id="rId9" Type="http://schemas.openxmlformats.org/officeDocument/2006/relationships/image" Target="../media/image32.png"/><Relationship Id="rId5" Type="http://schemas.openxmlformats.org/officeDocument/2006/relationships/image" Target="../media/image21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33.png"/><Relationship Id="rId5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8.png"/><Relationship Id="rId5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26.png"/><Relationship Id="rId5" Type="http://schemas.openxmlformats.org/officeDocument/2006/relationships/image" Target="../media/image36.png"/><Relationship Id="rId6" Type="http://schemas.openxmlformats.org/officeDocument/2006/relationships/image" Target="../media/image25.png"/><Relationship Id="rId7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757511"/>
            <a:ext cx="480060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AdaLoom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702272"/>
            <a:ext cx="48006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Transforming Software Delivery at Scale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762000" y="4039344"/>
            <a:ext cx="571500" cy="38100"/>
          </a:xfrm>
          <a:prstGeom prst="roundRect">
            <a:avLst>
              <a:gd fmla="val 16667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591794"/>
            <a:ext cx="4572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AI-Powered End-to-End Automation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5062"/>
            <a:ext cx="5238750" cy="2931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05062"/>
            <a:ext cx="5238750" cy="293176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2025" y="2795587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Vision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279427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AdaLoom is an AI-powered platform automating the entire software development lifecycle. Unlike simple code assistants, AdaLoom transforms business requirements directly into production-ready applications using specialized AI agents.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72275" y="2795587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Early Results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72275" y="3279427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Our Proof of Concepts demonstrate a </a:t>
            </a: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70-80% reduction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in development time. This shift enables us to accelerate digital transformation, enforce consistent quality, and reduce operational costs dramatically.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024312" y="571500"/>
            <a:ext cx="4350543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950"/>
            <a:ext cx="3492549" cy="3207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66950"/>
            <a:ext cx="3492549" cy="3207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66950"/>
            <a:ext cx="3492549" cy="3207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62225"/>
            <a:ext cx="66675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66775" y="3495675"/>
            <a:ext cx="198024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Time to Market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66775" y="412239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Traditional cycles take weeks or months, limiting response to market opportunities and threats.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62225"/>
            <a:ext cx="76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45074" y="3495675"/>
            <a:ext cx="192024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Talent Scarcity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45074" y="412239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Shortage of senior developers drives up costs and creates severe delivery bottlenecks.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62225"/>
            <a:ext cx="66675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423374" y="3495675"/>
            <a:ext cx="2530316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Inconsistent Quality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23374" y="412239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Manual coding introduces variability, security vulnerabilities, and long-term technical debt.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87949" y="27336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66249" y="27336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9650" y="2724150"/>
            <a:ext cx="3810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3667125" y="571500"/>
            <a:ext cx="5100637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Business Challenge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587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2181076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Intelligent Automation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2664916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AdaLoom uses a team of specialized AI agents—architects, developers, and security specialists—working in concert.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5112841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Like having an expert engineering team available 24/7.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7539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71525" y="3417391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09625" y="3417391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Input: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Structured "OpenSpec" business requirements.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3865066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09625" y="3865066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Process: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Agents generate code, write tests, and scan for security.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71525" y="4617541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09625" y="4617541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Output: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Production-ready application in under 5 minutes.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748087" y="571500"/>
            <a:ext cx="4930616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AdaLoom Solution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7280" y="313848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9960" y="313848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22641" y="313848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95321" y="313848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/>
          <p:nvPr/>
        </p:nvSpPr>
        <p:spPr>
          <a:xfrm>
            <a:off x="571500" y="3328987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10733" y="3748087"/>
            <a:ext cx="255219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Define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423192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Business Analyst creates "OpenSpec" requirements.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3383413" y="3748087"/>
            <a:ext cx="255219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Generate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3444180" y="423192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AI Agents architect and write code &amp; tests.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256094" y="3748087"/>
            <a:ext cx="255219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Validate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316860" y="423192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Automated security scans &amp; 80%+ test coverage.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128774" y="3748087"/>
            <a:ext cx="255219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Deploy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189541" y="423192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Push to production environment in minutes.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2800350" y="571500"/>
            <a:ext cx="692086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From Requirement to Production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5390"/>
            <a:ext cx="11049000" cy="4831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490909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Comparison against traditional manual software development baselines.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3419475" y="571500"/>
            <a:ext cx="562070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Projected Efficiency Gains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762000" y="762000"/>
            <a:ext cx="4800600" cy="879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Talent Strategy Transformation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62000" y="2118121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AdaLoom doesn't replace developers; it elevates them.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62000" y="3061096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Our engineers transition from routine coding to high-value roles: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62000" y="5537596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Result: Higher retention and attraction of top-tier engineering talent.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962025" y="4004071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000125" y="4004071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Specification Architects: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Defining precise needs.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962025" y="4451746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000125" y="4451746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Quality Reviewers: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Ensuring business alignment.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62025" y="4899421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1000125" y="4899421"/>
            <a:ext cx="433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Innovation Leaders: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Solving complex problems.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4550"/>
            <a:ext cx="3492549" cy="3512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14550"/>
            <a:ext cx="3492549" cy="3512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14550"/>
            <a:ext cx="3492549" cy="3512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409825"/>
            <a:ext cx="61912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866775" y="3343275"/>
            <a:ext cx="2550318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Azure Infrastructure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66775" y="396999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Built on secure, scalable Microsoft Azure cloud services with Active Directory integration and Key Vault management.</a:t>
            </a:r>
            <a:endParaRPr/>
          </a:p>
        </p:txBody>
      </p:sp>
      <p:pic>
        <p:nvPicPr>
          <p:cNvPr descr="image.png" id="194" name="Google Shape;19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409825"/>
            <a:ext cx="66675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4645074" y="3343275"/>
            <a:ext cx="188023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OpenAI GPT-5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4645074" y="396999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Leveraging state-of-the-art language models to interpret requirements and generate high-quality, secure code.</a:t>
            </a:r>
            <a:endParaRPr/>
          </a:p>
        </p:txBody>
      </p:sp>
      <p:pic>
        <p:nvPicPr>
          <p:cNvPr descr="image.png" id="197" name="Google Shape;19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374" y="2409825"/>
            <a:ext cx="66675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8423374" y="3343275"/>
            <a:ext cx="1650206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Security First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423374" y="396999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Production-grade security scanning, full audit trails, and compliance checks built into the core loop.</a:t>
            </a:r>
            <a:endParaRPr/>
          </a:p>
        </p:txBody>
      </p:sp>
      <p:pic>
        <p:nvPicPr>
          <p:cNvPr descr="image.png" id="200" name="Google Shape;20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25812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87949" y="25812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66249" y="25812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3090862" y="571500"/>
            <a:ext cx="6310788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Enterprise-Grade Foundation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p21"/>
          <p:cNvGraphicFramePr/>
          <p:nvPr/>
        </p:nvGraphicFramePr>
        <p:xfrm>
          <a:off x="571500" y="20030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{E28F1E63-D429-495A-B4D3-4A1C6B9899E9}</a:tableStyleId>
              </a:tblPr>
              <a:tblGrid>
                <a:gridCol w="1969150"/>
                <a:gridCol w="1461950"/>
                <a:gridCol w="7617925"/>
              </a:tblGrid>
              <a:tr h="93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Timeline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Scope &amp;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Phase 1: Pilot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Current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Internal pilot with select teams. Focus on net-new microservices and API development.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Phase 2: Expansion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Next Quarter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Expand to additional teams using proven patterns. Refine "OpenSpec" training.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Phase 3: Scale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6-12 Months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Broad adoption across the organization. Establish Centers of Excellence and full governance.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21"/>
          <p:cNvSpPr/>
          <p:nvPr/>
        </p:nvSpPr>
        <p:spPr>
          <a:xfrm>
            <a:off x="571500" y="2709713"/>
            <a:ext cx="1969144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540644" y="2709713"/>
            <a:ext cx="146193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002583" y="2709713"/>
            <a:ext cx="7617916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71500" y="3724126"/>
            <a:ext cx="19691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2540644" y="3724126"/>
            <a:ext cx="14619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4002583" y="3724126"/>
            <a:ext cx="761791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71500" y="4724251"/>
            <a:ext cx="19691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540644" y="4724251"/>
            <a:ext cx="14619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002583" y="4724251"/>
            <a:ext cx="761791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71500" y="5724376"/>
            <a:ext cx="19691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2540644" y="5724376"/>
            <a:ext cx="14619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4002583" y="5724376"/>
            <a:ext cx="761791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3619500" y="571500"/>
            <a:ext cx="52006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Phased Rollout Strategy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1200"/>
            <a:ext cx="5238750" cy="37794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81200"/>
            <a:ext cx="5238750" cy="377949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962025" y="2371725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Technical Risks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772275" y="2371725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Organizational Risks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1162050" y="280794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1200150" y="2807940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AI Accuracy: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Mitigated by 100% automated testing, strict compilation checks, and human review steps.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1162050" y="386521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1200150" y="386521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Integration: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Addressed via standard API patterns and phased rollout.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162050" y="461769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1200150" y="461769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Availability: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99.9% SLA with fallback to standard dev tools.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972300" y="280794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010400" y="2807940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Resistance to Change: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Managed through clear communication of "elevation not replacement" and training.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972300" y="386521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010400" y="386521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Skills Gaps: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Comprehensive training on writing effective specifications.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972300" y="461769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7010400" y="461769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Governance: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Policy requiring human oversight for critical systems.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252912" y="571500"/>
            <a:ext cx="3870483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Risks &amp; Mitigation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399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242095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4476750" y="2452538"/>
            <a:ext cx="750093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Strategic Recommendations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676775" y="288875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4714875" y="2888753"/>
            <a:ext cx="6905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Continue Investment: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Fund AdaLoom expansion to capitalize on 200-300% ROI potential.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4676775" y="364122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4714875" y="3641228"/>
            <a:ext cx="6905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Accelerate Adoption: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Prioritize high-volume routine work to free up senior capacity immediately.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4676775" y="439370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4714875" y="4393703"/>
            <a:ext cx="690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Build Expertise: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Establish a Center of Excellence to drive best practices.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4676775" y="484137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4714875" y="4841378"/>
            <a:ext cx="690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Commercial Potential: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Explore IP protection for our unique agent architecture.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4262437" y="571500"/>
            <a:ext cx="3850481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Path Forward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4250" y="1285875"/>
            <a:ext cx="3333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309562" y="1875680"/>
            <a:ext cx="5500687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Name "AdaLoom"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571500" y="2481411"/>
            <a:ext cx="52387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"Named after Ada Lovelace, who envisioned machines creating anything expressible symbolically, and the Jacquard loom that inspired computing itself."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571500" y="4229844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We bring their vision to life: machines that create software, guided by human intent, at unprecedented speed.</a:t>
            </a:r>
            <a:endParaRPr/>
          </a:p>
        </p:txBody>
      </p:sp>
      <p:pic>
        <p:nvPicPr>
          <p:cNvPr descr="image.png" id="271" name="Google Shape;27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3300" y="1304925"/>
            <a:ext cx="3295650" cy="4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4735830" y="2586037"/>
            <a:ext cx="272034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4800600" y="3824287"/>
            <a:ext cx="2590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Thank you.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/>
          <p:nvPr/>
        </p:nvSpPr>
        <p:spPr>
          <a:xfrm>
            <a:off x="571500" y="3081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571500" y="40641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571500" y="48489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7" name="Google Shape;28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65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6"/>
          <p:cNvSpPr txBox="1"/>
          <p:nvPr/>
        </p:nvSpPr>
        <p:spPr>
          <a:xfrm>
            <a:off x="1666875" y="225087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https://static.vecteezy.com/system/resources/previews/060/289/390/non_2x/brain-and-circuit-an-abstract-representation-of-a-brain-composed-of-circuitry-lines-signifying-the-intelligence-of-ai-in-processing-and-writing-code-vector.jpg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1666875" y="26946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90" name="Google Shape;29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394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6"/>
          <p:cNvSpPr txBox="1"/>
          <p:nvPr/>
        </p:nvSpPr>
        <p:spPr>
          <a:xfrm>
            <a:off x="1666875" y="323373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https://img.freepik.com/premium-photo/portrait-diverse-software-development-team-collaborating-project-modern-office-focus-lead-engineer-instructing-colleagues-copy-space_236854-29531.jpg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1666875" y="367754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www.freepik.com</a:t>
            </a:r>
            <a:endParaRPr/>
          </a:p>
        </p:txBody>
      </p:sp>
      <p:pic>
        <p:nvPicPr>
          <p:cNvPr descr="image.png" id="293" name="Google Shape;29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231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/>
        </p:nvSpPr>
        <p:spPr>
          <a:xfrm>
            <a:off x="1666875" y="421659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https://assets.conversion.ai/i/97f44c3b-f8ea-4830-a342-5139f1ec7649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1666875" y="446231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skyrushmarketing.com</a:t>
            </a:r>
            <a:endParaRPr/>
          </a:p>
        </p:txBody>
      </p:sp>
      <p:pic>
        <p:nvPicPr>
          <p:cNvPr descr="image.png" id="296" name="Google Shape;296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079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1666875" y="500136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https://upload.wikimedia.org/wikipedia/commons/8/87/Ada_Lovelace.jpg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1666875" y="52470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wikipedia.org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4572000" y="571500"/>
            <a:ext cx="320040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