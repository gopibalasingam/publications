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86"/>
    <p:restoredTop sz="94662"/>
  </p:normalViewPr>
  <p:slideViewPr>
    <p:cSldViewPr snapToGrid="0" snapToObjects="1">
      <p:cViewPr varScale="1">
        <p:scale>
          <a:sx n="90" d="100"/>
          <a:sy n="90" d="100"/>
        </p:scale>
        <p:origin x="1392" y="4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365761"/>
            <a:ext cx="780104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sz="3600"/>
              <a:t>Akka IDP: Reusable Multi‑Agent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371601"/>
            <a:ext cx="457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600"/>
              <a:t>Durable Akka Workflow: state persisted at every step; automatic recovery &amp; retries</a:t>
            </a:r>
          </a:p>
          <a:p>
            <a:pPr>
              <a:defRPr sz="1600"/>
            </a:pPr>
            <a:r>
              <a:rPr sz="1600"/>
              <a:t>Reusable AI agents orchestrated in a modular pipeline (7 agents)</a:t>
            </a:r>
          </a:p>
          <a:p>
            <a:pPr>
              <a:defRPr sz="1600"/>
            </a:pPr>
            <a:r>
              <a:rPr sz="1600"/>
              <a:t>Multi‑modal AI: text + vision (GPT‑4o Vision) across classification &amp; extraction</a:t>
            </a:r>
          </a:p>
          <a:p>
            <a:pPr>
              <a:defRPr sz="1600"/>
            </a:pPr>
            <a:r>
              <a:rPr sz="1600"/>
              <a:t>Enterprise‑grade: fault‑tolerant, horizontally scalable, and observable</a:t>
            </a:r>
          </a:p>
          <a:p>
            <a:pPr>
              <a:defRPr sz="1600"/>
            </a:pPr>
            <a:r>
              <a:rPr sz="1600"/>
              <a:t>Zero‑code reuse via SPI configuration (prompts, schemas, rules)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736080" y="1371600"/>
          <a:ext cx="4572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Role /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Modalities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ClassificationAgent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Document type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Text + 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ExtractionAgent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Structured data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Text + 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TransformationAgent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Payload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PublisherAgent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CMS/target publishing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VisionDetectionAgent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Detect handwritten/corrections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EvaluationAgent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Extraction confidence scoring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ClarityAgent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Document quality 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752600" y="4937760"/>
            <a:ext cx="8686800" cy="1097280"/>
          </a:xfrm>
          <a:prstGeom prst="roundRect">
            <a:avLst/>
          </a:prstGeom>
          <a:solidFill>
            <a:srgbClr val="E8F0FE"/>
          </a:solidFill>
          <a:ln>
            <a:solidFill>
              <a:srgbClr val="4D9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1400" dirty="0">
                <a:solidFill>
                  <a:schemeClr val="tx1"/>
                </a:solidFill>
              </a:rPr>
              <a:t>SPI‑Driven Reusability: Configure prompts, extraction schemas, and validation rules per document type — no code changes required. The same agents are reused across scenarios while the workflow ensures reliability and recovery.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1292" y="6126481"/>
            <a:ext cx="319670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 sz="1000"/>
              <a:t>Built on Akka SDK • Java 21 • Azure OpenAI GPT‑4o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365761"/>
            <a:ext cx="6482096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rPr sz="3400"/>
              <a:t>Durable Workflow &amp;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280161"/>
            <a:ext cx="420624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600"/>
              <a:t>IdpWorkflow (Akka) persists state at every step — enabling automatic recovery &amp; targeted retries.</a:t>
            </a:r>
          </a:p>
          <a:p>
            <a:pPr>
              <a:defRPr sz="1600"/>
            </a:pPr>
            <a:r>
              <a:rPr sz="1600"/>
              <a:t>Self‑healing: resumes from last successful step after failure/restart</a:t>
            </a:r>
          </a:p>
          <a:p>
            <a:pPr>
              <a:defRPr sz="1600"/>
            </a:pPr>
            <a:r>
              <a:rPr sz="1600"/>
              <a:t>Deterministic orchestration: each agent invocation recorded in durable state</a:t>
            </a:r>
          </a:p>
          <a:p>
            <a:pPr>
              <a:defRPr sz="1600"/>
            </a:pPr>
            <a:r>
              <a:rPr sz="1600"/>
              <a:t>Distributed by design: workflows scale horizontally across the cluster</a:t>
            </a:r>
          </a:p>
          <a:p>
            <a:pPr>
              <a:defRPr sz="1600"/>
            </a:pPr>
            <a:r>
              <a:rPr sz="1600"/>
              <a:t>Observability: instrumented steps for tracing &amp;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0320" y="1280160"/>
            <a:ext cx="42976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600"/>
              <a:t>1) Ingestion: REST API or Event Hub triggers new workflow</a:t>
            </a:r>
          </a:p>
          <a:p>
            <a:pPr>
              <a:defRPr sz="1600"/>
            </a:pPr>
            <a:r>
              <a:rPr sz="1600"/>
              <a:t>2) ClassificationAgent: determine document type (text + vision)</a:t>
            </a:r>
          </a:p>
          <a:p>
            <a:pPr>
              <a:defRPr sz="1600"/>
            </a:pPr>
            <a:r>
              <a:rPr sz="1600"/>
              <a:t>3) ExtractionAgent: pull structured data using prompts/schemas</a:t>
            </a:r>
          </a:p>
          <a:p>
            <a:pPr>
              <a:defRPr sz="1600"/>
            </a:pPr>
            <a:r>
              <a:rPr sz="1600"/>
              <a:t>4) TransformationAgent: map data to target payload/schema</a:t>
            </a:r>
          </a:p>
          <a:p>
            <a:pPr>
              <a:defRPr sz="1600"/>
            </a:pPr>
            <a:r>
              <a:rPr sz="1600"/>
              <a:t>5) Vision/Evaluation/Clarity: visual checks &amp; confidence scoring</a:t>
            </a:r>
          </a:p>
          <a:p>
            <a:pPr>
              <a:defRPr sz="1600"/>
            </a:pPr>
            <a:r>
              <a:rPr sz="1600"/>
              <a:t>6) PublisherAgent: submit/upload to CMS or downstream systems</a:t>
            </a:r>
          </a:p>
          <a:p>
            <a:pPr>
              <a:defRPr sz="1600"/>
            </a:pPr>
            <a:r>
              <a:rPr sz="1600"/>
              <a:t>7) Completion: workflow verifies success and commits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200" y="5486400"/>
            <a:ext cx="8686800" cy="914400"/>
          </a:xfrm>
          <a:prstGeom prst="roundRect">
            <a:avLst/>
          </a:prstGeom>
          <a:solidFill>
            <a:srgbClr val="F5F5F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1400"/>
              <a:t>Compared to ad‑hoc scripts: durable state prevents data loss; supervision + retries isolate failures and keep processing on track.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1292" y="6126481"/>
            <a:ext cx="319670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 sz="1000"/>
              <a:t>Built on Akka SDK • Java 21 • Azure OpenAI GPT‑4o Vision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Akka IDP Grounded Architecture">
            <a:extLst>
              <a:ext uri="{FF2B5EF4-FFF2-40B4-BE49-F238E27FC236}">
                <a16:creationId xmlns:a16="http://schemas.microsoft.com/office/drawing/2014/main" id="{C35391B1-688E-431A-E8EA-79488BEA36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Akka IDP Grounded Architecture">
            <a:extLst>
              <a:ext uri="{FF2B5EF4-FFF2-40B4-BE49-F238E27FC236}">
                <a16:creationId xmlns:a16="http://schemas.microsoft.com/office/drawing/2014/main" id="{8B6E927E-E5F8-822D-8888-B2856723C5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723ADEDB-DF29-2242-F668-4B5D9AE9E3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93AA34C0-352F-F8E9-5B23-6F93D6ED4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069" y="0"/>
            <a:ext cx="7427862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9A174A-2DA2-736F-2914-EA769EC99D91}"/>
              </a:ext>
            </a:extLst>
          </p:cNvPr>
          <p:cNvSpPr txBox="1"/>
          <p:nvPr/>
        </p:nvSpPr>
        <p:spPr>
          <a:xfrm>
            <a:off x="564356" y="457200"/>
            <a:ext cx="61007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CA" b="1" i="0" dirty="0">
                <a:solidFill>
                  <a:srgbClr val="1F2328"/>
                </a:solidFill>
                <a:effectLst/>
                <a:latin typeface="-apple-system"/>
              </a:rPr>
              <a:t>System Overview</a:t>
            </a:r>
          </a:p>
          <a:p>
            <a:pPr>
              <a:buNone/>
            </a:pP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944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365761"/>
            <a:ext cx="4345613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rPr sz="3400"/>
              <a:t>Seven Reusable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81200" y="1280160"/>
          <a:ext cx="8686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Role /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Modalities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ClassificationAgent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Determine document type/category using text + image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Text + 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ExtractionAgent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Extract structured fields (schemas/prompts) from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Text + 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TransformationAgent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Map extracted data to target payloads for downstream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PublisherAgent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Publish metadata/content to CMS, databases, or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VisionDetectionAgent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Detect handwritten marks/corrections/stamps in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EvaluationAgent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Score extraction confidence; flag low‑quality outputs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ClarityAgent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Assess scan quality/legibility; gate processing if unclear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81201" y="5577841"/>
            <a:ext cx="73243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sz="1200"/>
              <a:t>Agents are generic and reusable; document‑specific behavior comes from configuration (prompts, schemas, rules).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71292" y="6126481"/>
            <a:ext cx="319670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 sz="1000"/>
              <a:t>Built on Akka SDK • Java 21 • Azure OpenAI GPT‑4o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435" y="365761"/>
            <a:ext cx="1220152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rPr lang="en-CA" sz="3400" dirty="0"/>
              <a:t>Service Provider Interfaces (SPI) </a:t>
            </a:r>
            <a:r>
              <a:rPr sz="3400" dirty="0"/>
              <a:t>Configuration for Zero‑Code 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280161"/>
            <a:ext cx="42062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600"/>
              <a:t>Business logic is externalized. Configure per document type:</a:t>
            </a:r>
          </a:p>
          <a:p>
            <a:pPr>
              <a:defRPr sz="1600"/>
            </a:pPr>
            <a:r>
              <a:rPr sz="1600"/>
              <a:t>config.json — document types, routing &amp; settings</a:t>
            </a:r>
          </a:p>
          <a:p>
            <a:pPr>
              <a:defRPr sz="1600"/>
            </a:pPr>
            <a:r>
              <a:rPr sz="1600"/>
              <a:t>prompts/*.txt — LLM prompts for classification &amp; extraction</a:t>
            </a:r>
          </a:p>
          <a:p>
            <a:pPr>
              <a:defRPr sz="1600"/>
            </a:pPr>
            <a:r>
              <a:rPr sz="1600"/>
              <a:t>schemas/*.json — structured outputs to extract</a:t>
            </a:r>
          </a:p>
          <a:p>
            <a:pPr>
              <a:defRPr sz="1600"/>
            </a:pPr>
            <a:r>
              <a:rPr sz="1600"/>
              <a:t>rules/*.json — validation &amp; quality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0320" y="1280160"/>
            <a:ext cx="42976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600"/>
              <a:t>Onboard a new document type (no code changes):</a:t>
            </a:r>
          </a:p>
          <a:p>
            <a:pPr>
              <a:defRPr sz="1600"/>
            </a:pPr>
            <a:r>
              <a:rPr sz="1600"/>
              <a:t>Add a schema JSON describing the fields to extract</a:t>
            </a:r>
          </a:p>
          <a:p>
            <a:pPr>
              <a:defRPr sz="1600"/>
            </a:pPr>
            <a:r>
              <a:rPr sz="1600"/>
              <a:t>Write prompts for classification/extraction aligned to the schema</a:t>
            </a:r>
          </a:p>
          <a:p>
            <a:pPr>
              <a:defRPr sz="1600"/>
            </a:pPr>
            <a:r>
              <a:rPr sz="1600"/>
              <a:t>Add validation rules for business checks</a:t>
            </a:r>
          </a:p>
          <a:p>
            <a:pPr>
              <a:defRPr sz="1600"/>
            </a:pPr>
            <a:r>
              <a:rPr sz="1600"/>
              <a:t>Deploy the updated configuration; the same agents &amp; workflow handle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4314825"/>
            <a:ext cx="8686800" cy="731520"/>
          </a:xfrm>
          <a:prstGeom prst="rect">
            <a:avLst/>
          </a:prstGeom>
          <a:solidFill>
            <a:srgbClr val="E8F0FE"/>
          </a:solidFill>
          <a:ln>
            <a:solidFill>
              <a:srgbClr val="4D9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1400" dirty="0">
                <a:solidFill>
                  <a:schemeClr val="tx1"/>
                </a:solidFill>
              </a:rPr>
              <a:t>Effect: true reuse. Engineers update config, not code; agents and workflows remain unchanged.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1292" y="6126481"/>
            <a:ext cx="319670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 sz="1000"/>
              <a:t>Built on Akka SDK • Java 21 • Azure OpenAI GPT‑4o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1" y="365761"/>
            <a:ext cx="722370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rPr sz="3400"/>
              <a:t>Enterprise Readiness &amp; Multi‑Modal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280160"/>
            <a:ext cx="420624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Reliability &amp; Scale</a:t>
            </a:r>
          </a:p>
          <a:p>
            <a:pPr>
              <a:defRPr sz="1600"/>
            </a:pPr>
            <a:r>
              <a:rPr sz="1600"/>
              <a:t>Actor supervision + retries → fault tolerance</a:t>
            </a:r>
          </a:p>
          <a:p>
            <a:pPr>
              <a:defRPr sz="1600"/>
            </a:pPr>
            <a:r>
              <a:rPr sz="1600"/>
              <a:t>State persistence → no lost transactions</a:t>
            </a:r>
          </a:p>
          <a:p>
            <a:pPr>
              <a:defRPr sz="1600"/>
            </a:pPr>
            <a:r>
              <a:rPr sz="1600"/>
              <a:t>Horizontal scaling of workflows across nodes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0320" y="1280161"/>
            <a:ext cx="429768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Enterprise Integrations &amp; Modalities</a:t>
            </a:r>
          </a:p>
          <a:p>
            <a:pPr>
              <a:defRPr sz="1600"/>
            </a:pPr>
            <a:r>
              <a:rPr sz="1600"/>
              <a:t>Azure APIM, OAuth2, observability &amp; audit</a:t>
            </a:r>
          </a:p>
          <a:p>
            <a:pPr>
              <a:defRPr sz="1600"/>
            </a:pPr>
            <a:r>
              <a:rPr sz="1600"/>
              <a:t>Event‑driven integration for downstream systems</a:t>
            </a:r>
          </a:p>
          <a:p>
            <a:pPr>
              <a:defRPr sz="1600"/>
            </a:pPr>
            <a:r>
              <a:rPr sz="1600"/>
              <a:t>Text + Vision: GPT‑4o Vision for document images &amp;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71292" y="6126481"/>
            <a:ext cx="319670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rPr sz="1000"/>
              <a:t>Built on Akka SDK • Java 21 • Azure OpenAI GPT‑4o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700</Words>
  <Application>Microsoft Macintosh PowerPoint</Application>
  <PresentationFormat>Widescreen</PresentationFormat>
  <Paragraphs>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Gopi Balasingam</cp:lastModifiedBy>
  <cp:revision>5</cp:revision>
  <dcterms:created xsi:type="dcterms:W3CDTF">2013-01-27T09:14:16Z</dcterms:created>
  <dcterms:modified xsi:type="dcterms:W3CDTF">2025-12-27T22:04:02Z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dd5db4b-78fb-42ac-8616-2bbd1a698c72_Enabled">
    <vt:lpwstr>true</vt:lpwstr>
  </property>
  <property fmtid="{D5CDD505-2E9C-101B-9397-08002B2CF9AE}" pid="3" name="MSIP_Label_0dd5db4b-78fb-42ac-8616-2bbd1a698c72_SetDate">
    <vt:lpwstr>2025-12-27T21:40:25Z</vt:lpwstr>
  </property>
  <property fmtid="{D5CDD505-2E9C-101B-9397-08002B2CF9AE}" pid="4" name="MSIP_Label_0dd5db4b-78fb-42ac-8616-2bbd1a698c72_Method">
    <vt:lpwstr>Privileged</vt:lpwstr>
  </property>
  <property fmtid="{D5CDD505-2E9C-101B-9397-08002B2CF9AE}" pid="5" name="MSIP_Label_0dd5db4b-78fb-42ac-8616-2bbd1a698c72_Name">
    <vt:lpwstr>EXTERNAL</vt:lpwstr>
  </property>
  <property fmtid="{D5CDD505-2E9C-101B-9397-08002B2CF9AE}" pid="6" name="MSIP_Label_0dd5db4b-78fb-42ac-8616-2bbd1a698c72_SiteId">
    <vt:lpwstr>5d3e2773-e07f-4432-a630-1a0f68a28a05</vt:lpwstr>
  </property>
  <property fmtid="{D5CDD505-2E9C-101B-9397-08002B2CF9AE}" pid="7" name="MSIP_Label_0dd5db4b-78fb-42ac-8616-2bbd1a698c72_ActionId">
    <vt:lpwstr>627e02fe-49f3-4622-98bd-89054716dbb6</vt:lpwstr>
  </property>
  <property fmtid="{D5CDD505-2E9C-101B-9397-08002B2CF9AE}" pid="8" name="MSIP_Label_0dd5db4b-78fb-42ac-8616-2bbd1a698c72_ContentBits">
    <vt:lpwstr>0</vt:lpwstr>
  </property>
  <property fmtid="{D5CDD505-2E9C-101B-9397-08002B2CF9AE}" pid="9" name="MSIP_Label_0dd5db4b-78fb-42ac-8616-2bbd1a698c72_Tag">
    <vt:lpwstr>50, 0, 1, 1</vt:lpwstr>
  </property>
</Properties>
</file>